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6FBCBF-6920-4D13-B8BB-DFDBC83953D9}"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BAA1BF-CD47-4050-BEA8-554F3EBEA974}" type="slidenum">
              <a:rPr lang="en-US" smtClean="0"/>
              <a:t>‹#›</a:t>
            </a:fld>
            <a:endParaRPr lang="en-US"/>
          </a:p>
        </p:txBody>
      </p:sp>
    </p:spTree>
    <p:extLst>
      <p:ext uri="{BB962C8B-B14F-4D97-AF65-F5344CB8AC3E}">
        <p14:creationId xmlns:p14="http://schemas.microsoft.com/office/powerpoint/2010/main" val="3028985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30 seconds</a:t>
            </a:r>
          </a:p>
          <a:p>
            <a:endParaRPr lang="en-US"/>
          </a:p>
          <a:p>
            <a:r>
              <a:rPr lang="en-US"/>
              <a:t>My project asks a practical question about databases that search by meaning. These databases keep their data on many servers, and new data arrives all the time. Keeping the search accurate means sending extra bytes between servers, and the number of bytes is limited.</a:t>
            </a:r>
          </a:p>
          <a:p>
            <a:endParaRPr lang="en-US"/>
          </a:p>
          <a:p>
            <a:r>
              <a:rPr lang="en-US"/>
              <a:t>So if you can only send so many bytes, what should you spend them on? I will show what I built, how I tested it, what I found, and what is left before the conference deadline.</a:t>
            </a:r>
          </a:p>
          <a:p>
            <a:endParaRPr lang="en-US"/>
          </a:p>
          <a:p>
            <a:r>
              <a:rPr lang="en-US"/>
              <a:t>The picture behind me shows the idea. Each cloud of white dots is one server’s data, and the rings are the short summaries the system keeps of each server. Orange dots are new data arriving. The moving teal dot is a question, sent to the two servers whose summaries look closest to it.</a:t>
            </a:r>
          </a:p>
        </p:txBody>
      </p:sp>
      <p:sp>
        <p:nvSpPr>
          <p:cNvPr id="4" name="Slide Number Placeholder 3"/>
          <p:cNvSpPr>
            <a:spLocks noGrp="1"/>
          </p:cNvSpPr>
          <p:nvPr>
            <p:ph type="sldNum" sz="quarter" idx="5"/>
          </p:nvPr>
        </p:nvSpPr>
        <p:spPr/>
        <p:txBody>
          <a:bodyPr/>
          <a:lstStyle/>
          <a:p>
            <a:fld id="{FDBAA1BF-CD47-4050-BEA8-554F3EBEA974}" type="slidenum">
              <a:rPr lang="en-US" smtClean="0"/>
              <a:t>1</a:t>
            </a:fld>
            <a:endParaRPr lang="en-US"/>
          </a:p>
        </p:txBody>
      </p:sp>
    </p:spTree>
    <p:extLst>
      <p:ext uri="{BB962C8B-B14F-4D97-AF65-F5344CB8AC3E}">
        <p14:creationId xmlns:p14="http://schemas.microsoft.com/office/powerpoint/2010/main" val="2924393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a:t>
            </a:r>
          </a:p>
          <a:p>
            <a:endParaRPr lang="en-US"/>
          </a:p>
          <a:p>
            <a:r>
              <a:rPr lang="en-US"/>
              <a:t>First, what is a vector database? It stores passages of text as lists of numbers that capture their meaning. When a question comes in, it finds the stored passages whose meaning is closest.</a:t>
            </a:r>
          </a:p>
          <a:p>
            <a:endParaRPr lang="en-US"/>
          </a:p>
          <a:p>
            <a:r>
              <a:rPr lang="en-US"/>
              <a:t>Ours keeps one hundred thousand passages on thirty-two servers, which we call shards. To save work, a coordinator, which works like a front desk, sends each question to only two shards. It decides which two by looking at a short summary of every shard: sixteen points that mark the main topics the shard holds.</a:t>
            </a:r>
          </a:p>
          <a:p>
            <a:endParaRPr lang="en-US"/>
          </a:p>
          <a:p>
            <a:r>
              <a:rPr lang="en-US"/>
              <a:t>Here is the problem, in the animation. New passages land on shard three. But the coordinator still has shard three’s old summary, so it sends the question to shards one and two and misses the new match. Once shard three sends a fresh summary, the question goes to shard three and finds it. Fresh summaries help, but each one means more bytes sent over the network.</a:t>
            </a:r>
          </a:p>
        </p:txBody>
      </p:sp>
      <p:sp>
        <p:nvSpPr>
          <p:cNvPr id="4" name="Slide Number Placeholder 3"/>
          <p:cNvSpPr>
            <a:spLocks noGrp="1"/>
          </p:cNvSpPr>
          <p:nvPr>
            <p:ph type="sldNum" sz="quarter" idx="5"/>
          </p:nvPr>
        </p:nvSpPr>
        <p:spPr/>
        <p:txBody>
          <a:bodyPr/>
          <a:lstStyle/>
          <a:p>
            <a:fld id="{FDBAA1BF-CD47-4050-BEA8-554F3EBEA974}" type="slidenum">
              <a:rPr lang="en-US" smtClean="0"/>
              <a:t>2</a:t>
            </a:fld>
            <a:endParaRPr lang="en-US"/>
          </a:p>
        </p:txBody>
      </p:sp>
    </p:spTree>
    <p:extLst>
      <p:ext uri="{BB962C8B-B14F-4D97-AF65-F5344CB8AC3E}">
        <p14:creationId xmlns:p14="http://schemas.microsoft.com/office/powerpoint/2010/main" val="21488401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a:t>
            </a:r>
          </a:p>
          <a:p>
            <a:endParaRPr lang="en-US"/>
          </a:p>
          <a:p>
            <a:r>
              <a:rPr lang="en-US"/>
              <a:t>So the system has a fixed allowance of network bytes each time step, and every method that has a budget gets exactly the same allowance. That keeps the comparison fair.</a:t>
            </a:r>
          </a:p>
          <a:p>
            <a:endParaRPr lang="en-US"/>
          </a:p>
          <a:p>
            <a:r>
              <a:rPr lang="en-US"/>
              <a:t>There are three ways to spend it, shown in the three small animations. Refresh: a shard sends the coordinator a fresh summary of what it now holds. Extra search: when the coordinator is unsure which shards hold the answer, the question also goes to a third shard. Push: shards send copies of their newest passages, and the coordinator checks those copies for every question.</a:t>
            </a:r>
          </a:p>
          <a:p>
            <a:endParaRPr lang="en-US"/>
          </a:p>
          <a:p>
            <a:r>
              <a:rPr lang="en-US"/>
              <a:t>The second question is about refreshing itself. If we can only refresh a few shards each step, which ones should go first? We compare five rules, and one of them is our own.</a:t>
            </a:r>
          </a:p>
        </p:txBody>
      </p:sp>
      <p:sp>
        <p:nvSpPr>
          <p:cNvPr id="4" name="Slide Number Placeholder 3"/>
          <p:cNvSpPr>
            <a:spLocks noGrp="1"/>
          </p:cNvSpPr>
          <p:nvPr>
            <p:ph type="sldNum" sz="quarter" idx="5"/>
          </p:nvPr>
        </p:nvSpPr>
        <p:spPr/>
        <p:txBody>
          <a:bodyPr/>
          <a:lstStyle/>
          <a:p>
            <a:fld id="{FDBAA1BF-CD47-4050-BEA8-554F3EBEA974}" type="slidenum">
              <a:rPr lang="en-US" smtClean="0"/>
              <a:t>3</a:t>
            </a:fld>
            <a:endParaRPr lang="en-US"/>
          </a:p>
        </p:txBody>
      </p:sp>
    </p:spTree>
    <p:extLst>
      <p:ext uri="{BB962C8B-B14F-4D97-AF65-F5344CB8AC3E}">
        <p14:creationId xmlns:p14="http://schemas.microsoft.com/office/powerpoint/2010/main" val="4159455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a:t>
            </a:r>
          </a:p>
          <a:p>
            <a:endParaRPr lang="en-US"/>
          </a:p>
          <a:p>
            <a:r>
              <a:rPr lang="en-US"/>
              <a:t>None of the parts of this idea is brand new, and the paper credits each one. A search engine’s page collector, called a web crawler, can choose which new pages to fetch first by how often they would show up in top search results. Work on searching many text collections showed that out-of-date summaries lower accuracy, and earlier work planned updates for the summaries most likely to be out of date. A single search index is already kept up to date as its data changes. And in Semord, a recent system with no central coordinator, servers ask extra servers to make up for questions sent to the wrong ones.</a:t>
            </a:r>
          </a:p>
          <a:p>
            <a:endParaRPr lang="en-US"/>
          </a:p>
          <a:p>
            <a:r>
              <a:rPr lang="en-US"/>
              <a:t>What we add is the combination: a coordinator whose summaries go out of date, a fixed byte budget, and a fair comparison of refreshing, extra searches and pushing at the same number of bytes. We also adapt the crawling idea into a refresh rule that uses sixty-four sample questions, and we test everything in a simulator that checks every answer, with the plan written down before the main analysis.</a:t>
            </a:r>
          </a:p>
        </p:txBody>
      </p:sp>
      <p:sp>
        <p:nvSpPr>
          <p:cNvPr id="4" name="Slide Number Placeholder 3"/>
          <p:cNvSpPr>
            <a:spLocks noGrp="1"/>
          </p:cNvSpPr>
          <p:nvPr>
            <p:ph type="sldNum" sz="quarter" idx="5"/>
          </p:nvPr>
        </p:nvSpPr>
        <p:spPr/>
        <p:txBody>
          <a:bodyPr/>
          <a:lstStyle/>
          <a:p>
            <a:fld id="{FDBAA1BF-CD47-4050-BEA8-554F3EBEA974}" type="slidenum">
              <a:rPr lang="en-US" smtClean="0"/>
              <a:t>4</a:t>
            </a:fld>
            <a:endParaRPr lang="en-US"/>
          </a:p>
        </p:txBody>
      </p:sp>
    </p:spTree>
    <p:extLst>
      <p:ext uri="{BB962C8B-B14F-4D97-AF65-F5344CB8AC3E}">
        <p14:creationId xmlns:p14="http://schemas.microsoft.com/office/powerpoint/2010/main" val="309891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a:t>
            </a:r>
          </a:p>
          <a:p>
            <a:endParaRPr lang="en-US"/>
          </a:p>
          <a:p>
            <a:r>
              <a:rPr lang="en-US"/>
              <a:t>This is the simulator I built, shown as one time step. At the start, about half of the passages are split into thirty-two shards by similarity of meaning, and every shard sets up its own fast search and its summary.</a:t>
            </a:r>
          </a:p>
          <a:p>
            <a:endParaRPr lang="en-US"/>
          </a:p>
          <a:p>
            <a:r>
              <a:rPr lang="en-US"/>
              <a:t>Then each of the fifty time steps goes the same way. New passages arrive, about a thousand per step, and a placement rule decides which shard stores each one. A slow, exact search over everything finds the true best answers, so we can grade every answer. Shards that changed prepare a fresh summary but do not send it yet. Then the method spends its byte budget, and every message is counted with its size. Questions are answered from two shards plus whatever extra the method paid for. Finally every answer is graded against the truth, and the run stops if a method overspends.</a:t>
            </a:r>
          </a:p>
          <a:p>
            <a:endParaRPr lang="en-US"/>
          </a:p>
          <a:p>
            <a:r>
              <a:rPr lang="en-US"/>
              <a:t>One limit: it all runs on one computer. We count bytes exactly, but we do not model network delay, waiting in line, or failures.</a:t>
            </a:r>
          </a:p>
        </p:txBody>
      </p:sp>
      <p:sp>
        <p:nvSpPr>
          <p:cNvPr id="4" name="Slide Number Placeholder 3"/>
          <p:cNvSpPr>
            <a:spLocks noGrp="1"/>
          </p:cNvSpPr>
          <p:nvPr>
            <p:ph type="sldNum" sz="quarter" idx="5"/>
          </p:nvPr>
        </p:nvSpPr>
        <p:spPr/>
        <p:txBody>
          <a:bodyPr/>
          <a:lstStyle/>
          <a:p>
            <a:fld id="{FDBAA1BF-CD47-4050-BEA8-554F3EBEA974}" type="slidenum">
              <a:rPr lang="en-US" smtClean="0"/>
              <a:t>5</a:t>
            </a:fld>
            <a:endParaRPr lang="en-US"/>
          </a:p>
        </p:txBody>
      </p:sp>
    </p:spTree>
    <p:extLst>
      <p:ext uri="{BB962C8B-B14F-4D97-AF65-F5344CB8AC3E}">
        <p14:creationId xmlns:p14="http://schemas.microsoft.com/office/powerpoint/2010/main" val="528319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40 seconds</a:t>
            </a:r>
          </a:p>
          <a:p>
            <a:endParaRPr lang="en-US"/>
          </a:p>
          <a:p>
            <a:r>
              <a:rPr lang="en-US"/>
              <a:t>These are the tools behind the simulator, in the order the data moves through them. The passages and questions come from MS MARCO, which we download from Hugging Face. A Sentence-Transformers model, run with PyTorch, turns each passage and question into a list of three hundred eighty-four numbers. Faiss groups similar passages into shards and summaries, and it also finds the true best matches we grade against. A library called hnswlib gives each shard its own fast search. The simulator itself is our own Python code, and the results are stored as tables with pandas and PyArrow.</a:t>
            </a:r>
          </a:p>
          <a:p>
            <a:endParaRPr lang="en-US"/>
          </a:p>
          <a:p>
            <a:r>
              <a:rPr lang="en-US"/>
              <a:t>Around the code, Git keeps every change, and the code is public on GitHub, with eight named save points that mark the steps of the plan. pytest runs twenty-four automated tests. Every experiment has its own settings file, and a script restarts only the runs that did not finish. Both papers are written in LaTeX with the IEEE template.</a:t>
            </a:r>
          </a:p>
          <a:p>
            <a:endParaRPr lang="en-US"/>
          </a:p>
          <a:p>
            <a:r>
              <a:rPr lang="en-US"/>
              <a:t>Everything ran on one Windows computer, and each simulation process used about six and a half gigabytes of memory.</a:t>
            </a:r>
          </a:p>
        </p:txBody>
      </p:sp>
      <p:sp>
        <p:nvSpPr>
          <p:cNvPr id="4" name="Slide Number Placeholder 3"/>
          <p:cNvSpPr>
            <a:spLocks noGrp="1"/>
          </p:cNvSpPr>
          <p:nvPr>
            <p:ph type="sldNum" sz="quarter" idx="5"/>
          </p:nvPr>
        </p:nvSpPr>
        <p:spPr/>
        <p:txBody>
          <a:bodyPr/>
          <a:lstStyle/>
          <a:p>
            <a:fld id="{FDBAA1BF-CD47-4050-BEA8-554F3EBEA974}" type="slidenum">
              <a:rPr lang="en-US" smtClean="0"/>
              <a:t>6</a:t>
            </a:fld>
            <a:endParaRPr lang="en-US"/>
          </a:p>
        </p:txBody>
      </p:sp>
    </p:spTree>
    <p:extLst>
      <p:ext uri="{BB962C8B-B14F-4D97-AF65-F5344CB8AC3E}">
        <p14:creationId xmlns:p14="http://schemas.microsoft.com/office/powerpoint/2010/main" val="21007437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a:t>
            </a:r>
          </a:p>
          <a:p>
            <a:endParaRPr lang="en-US"/>
          </a:p>
          <a:p>
            <a:r>
              <a:rPr lang="en-US"/>
              <a:t>We compare twelve methods. Four are classical refresh rules, which serve as our baselines. Rotation lets shards take turns. Largest shard and most-searched come from earlier work on searching many text collections. Most-changed asks each shard for a tiny four-byte score that says how badly its old summary fits its new passages, and refreshes the worst first. We come back to these tiny scores later.</a:t>
            </a:r>
          </a:p>
          <a:p>
            <a:endParaRPr lang="en-US"/>
          </a:p>
          <a:p>
            <a:r>
              <a:rPr lang="en-US"/>
              <a:t>Our own rule is the sample-query probe. The coordinator sends sixty-four sample questions and counts how many new best matches each fresh summary would bring back. That costs bytes too: at the default budget its messages use about a fifth of the allowance, so it can send one fewer summary.</a:t>
            </a:r>
          </a:p>
          <a:p>
            <a:endParaRPr lang="en-US"/>
          </a:p>
          <a:p>
            <a:r>
              <a:rPr lang="en-US"/>
              <a:t>Three methods spend the bytes another way: a planned extra search that looks at all of a step’s questions first, a fair live version that decides question by question, and push. Finally, methods without a budget show the range. Never refreshing is the starting point, and the others show how much better choosing shards could get without a budget.</a:t>
            </a:r>
          </a:p>
        </p:txBody>
      </p:sp>
      <p:sp>
        <p:nvSpPr>
          <p:cNvPr id="4" name="Slide Number Placeholder 3"/>
          <p:cNvSpPr>
            <a:spLocks noGrp="1"/>
          </p:cNvSpPr>
          <p:nvPr>
            <p:ph type="sldNum" sz="quarter" idx="5"/>
          </p:nvPr>
        </p:nvSpPr>
        <p:spPr/>
        <p:txBody>
          <a:bodyPr/>
          <a:lstStyle/>
          <a:p>
            <a:fld id="{FDBAA1BF-CD47-4050-BEA8-554F3EBEA974}" type="slidenum">
              <a:rPr lang="en-US" smtClean="0"/>
              <a:t>7</a:t>
            </a:fld>
            <a:endParaRPr lang="en-US"/>
          </a:p>
        </p:txBody>
      </p:sp>
    </p:spTree>
    <p:extLst>
      <p:ext uri="{BB962C8B-B14F-4D97-AF65-F5344CB8AC3E}">
        <p14:creationId xmlns:p14="http://schemas.microsoft.com/office/powerpoint/2010/main" val="23874753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a:t>
            </a:r>
          </a:p>
          <a:p>
            <a:endParaRPr lang="en-US"/>
          </a:p>
          <a:p>
            <a:r>
              <a:rPr lang="en-US"/>
              <a:t>The data are one hundred thousand passages from MS MARCO, a public set of web passages and real search questions. A small language model turns each passage into a list of three hundred eighty-four numbers that capture its meaning. We use a thousand test questions, and keep sixty-four other questions apart for the probe.</a:t>
            </a:r>
          </a:p>
          <a:p>
            <a:endParaRPr lang="en-US"/>
          </a:p>
          <a:p>
            <a:r>
              <a:rPr lang="en-US"/>
              <a:t>The animation shows the three placements we test, meaning where a new passage is stored: on the shard whose starting center is closest, all on one shard per time step, or on whichever of eight active shards has the closest topic, so some of the eight get more than others. New passages come either in mixed topic order or from new topics that were held back at the start.</a:t>
            </a:r>
          </a:p>
          <a:p>
            <a:endParaRPr lang="en-US"/>
          </a:p>
          <a:p>
            <a:r>
              <a:rPr lang="en-US"/>
              <a:t>Our main score is recent recall. Take a question’s ten true best matches, keep the ones that arrived in the last two steps, and ask what share the system found. Overall recall is the same, counting all ten. Every setting is repeated five times with different random starts. We call a difference clear only when our statistics test says chance alone would rarely produce it, and we give differences in points, where one point is one percentage point. We wrote the plan and the tests down before the main analysis, and the one follow-up we added after seeing results is clearly labeled as added later.</a:t>
            </a:r>
          </a:p>
        </p:txBody>
      </p:sp>
      <p:sp>
        <p:nvSpPr>
          <p:cNvPr id="4" name="Slide Number Placeholder 3"/>
          <p:cNvSpPr>
            <a:spLocks noGrp="1"/>
          </p:cNvSpPr>
          <p:nvPr>
            <p:ph type="sldNum" sz="quarter" idx="5"/>
          </p:nvPr>
        </p:nvSpPr>
        <p:spPr/>
        <p:txBody>
          <a:bodyPr/>
          <a:lstStyle/>
          <a:p>
            <a:fld id="{FDBAA1BF-CD47-4050-BEA8-554F3EBEA974}" type="slidenum">
              <a:rPr lang="en-US" smtClean="0"/>
              <a:t>8</a:t>
            </a:fld>
            <a:endParaRPr lang="en-US"/>
          </a:p>
        </p:txBody>
      </p:sp>
    </p:spTree>
    <p:extLst>
      <p:ext uri="{BB962C8B-B14F-4D97-AF65-F5344CB8AC3E}">
        <p14:creationId xmlns:p14="http://schemas.microsoft.com/office/powerpoint/2010/main" val="14418497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a:t>
            </a:r>
          </a:p>
          <a:p>
            <a:endParaRPr lang="en-US"/>
          </a:p>
          <a:p>
            <a:r>
              <a:rPr lang="en-US"/>
              <a:t>First case: each new passage goes to the shard whose starting center is nearest. Here the old summaries mostly keep working, because new passages often land where the old summaries already send questions.</a:t>
            </a:r>
          </a:p>
          <a:p>
            <a:endParaRPr lang="en-US"/>
          </a:p>
          <a:p>
            <a:r>
              <a:rPr lang="en-US"/>
              <a:t>Even refreshing every summary at every step, which ignores the budget, gains only about two and a quarter points on new topics, and on mixed topics the half-point change is not a clear difference.</a:t>
            </a:r>
          </a:p>
          <a:p>
            <a:endParaRPr lang="en-US"/>
          </a:p>
          <a:p>
            <a:r>
              <a:rPr lang="en-US"/>
              <a:t>So at the same number of bytes, it is better to spend them elsewhere. The chart shows the gain over the best refresh rule. Both kinds of extra search and push win by about two to three points, on both kinds of topics, and every one of these differences is clear.</a:t>
            </a:r>
          </a:p>
        </p:txBody>
      </p:sp>
      <p:sp>
        <p:nvSpPr>
          <p:cNvPr id="4" name="Slide Number Placeholder 3"/>
          <p:cNvSpPr>
            <a:spLocks noGrp="1"/>
          </p:cNvSpPr>
          <p:nvPr>
            <p:ph type="sldNum" sz="quarter" idx="5"/>
          </p:nvPr>
        </p:nvSpPr>
        <p:spPr/>
        <p:txBody>
          <a:bodyPr/>
          <a:lstStyle/>
          <a:p>
            <a:fld id="{FDBAA1BF-CD47-4050-BEA8-554F3EBEA974}" type="slidenum">
              <a:rPr lang="en-US" smtClean="0"/>
              <a:t>9</a:t>
            </a:fld>
            <a:endParaRPr lang="en-US"/>
          </a:p>
        </p:txBody>
      </p:sp>
    </p:spTree>
    <p:extLst>
      <p:ext uri="{BB962C8B-B14F-4D97-AF65-F5344CB8AC3E}">
        <p14:creationId xmlns:p14="http://schemas.microsoft.com/office/powerpoint/2010/main" val="17102262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a:t>
            </a:r>
          </a:p>
          <a:p>
            <a:endParaRPr lang="en-US"/>
          </a:p>
          <a:p>
            <a:r>
              <a:rPr lang="en-US"/>
              <a:t>Second case: all of a time step’s new passages go to a single shard. Now the old summaries fail, and the kind of topic decides what helps.</a:t>
            </a:r>
          </a:p>
          <a:p>
            <a:endParaRPr lang="en-US"/>
          </a:p>
          <a:p>
            <a:r>
              <a:rPr lang="en-US"/>
              <a:t>On the left, new topics. When the new passages share a new topic, one fresh summary describes them well. Refreshing wins by a lot, about twenty-two and a half points over never refreshing, and it beats push at every budget.</a:t>
            </a:r>
          </a:p>
          <a:p>
            <a:endParaRPr lang="en-US"/>
          </a:p>
          <a:p>
            <a:r>
              <a:rPr lang="en-US"/>
              <a:t>On the right, mixed topics. When the new passages mix all topics, sixteen summary points cannot describe them. Refreshing gains less than two points, it slightly lowers recall on older matches, and push wins at every budget.</a:t>
            </a:r>
          </a:p>
          <a:p>
            <a:endParaRPr lang="en-US"/>
          </a:p>
          <a:p>
            <a:r>
              <a:rPr lang="en-US"/>
              <a:t>One more detail: here all five refresh rules tie, because they all refresh the one shard that changed. A code review caught that before we ran anything, and it is why we added the eight-shard setting on the next slide.</a:t>
            </a:r>
          </a:p>
        </p:txBody>
      </p:sp>
      <p:sp>
        <p:nvSpPr>
          <p:cNvPr id="4" name="Slide Number Placeholder 3"/>
          <p:cNvSpPr>
            <a:spLocks noGrp="1"/>
          </p:cNvSpPr>
          <p:nvPr>
            <p:ph type="sldNum" sz="quarter" idx="5"/>
          </p:nvPr>
        </p:nvSpPr>
        <p:spPr/>
        <p:txBody>
          <a:bodyPr/>
          <a:lstStyle/>
          <a:p>
            <a:fld id="{FDBAA1BF-CD47-4050-BEA8-554F3EBEA974}" type="slidenum">
              <a:rPr lang="en-US" smtClean="0"/>
              <a:t>10</a:t>
            </a:fld>
            <a:endParaRPr lang="en-US"/>
          </a:p>
        </p:txBody>
      </p:sp>
    </p:spTree>
    <p:extLst>
      <p:ext uri="{BB962C8B-B14F-4D97-AF65-F5344CB8AC3E}">
        <p14:creationId xmlns:p14="http://schemas.microsoft.com/office/powerpoint/2010/main" val="11393176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a:t>
            </a:r>
          </a:p>
          <a:p>
            <a:endParaRPr lang="en-US"/>
          </a:p>
          <a:p>
            <a:r>
              <a:rPr lang="en-US"/>
              <a:t>Third case: eight shards share each time step’s new passages. This is the hardest case, and here the size of the budget decides. The dashed line is never refreshing.</a:t>
            </a:r>
          </a:p>
          <a:p>
            <a:endParaRPr lang="en-US"/>
          </a:p>
          <a:p>
            <a:r>
              <a:rPr lang="en-US"/>
              <a:t>On new topics, compare the teal and orange bars. With the smallest budget, refreshing is ahead of push by about one and a half points. But that lead is fragile. The most-changed rule needs each shard to send a tiny four-byte score, and in our main runs those bytes were not charged to the budget. The budget buys whole summaries, so when we charged for those scores, the rule could afford only one summary instead of two, and the lead disappeared. With a budget of four there is no clear winner, and with a budget of eight push wins by about three and a half points.</a:t>
            </a:r>
          </a:p>
          <a:p>
            <a:endParaRPr lang="en-US"/>
          </a:p>
          <a:p>
            <a:r>
              <a:rPr lang="en-US"/>
              <a:t>On mixed topics, push wins at every budget for finding new matches. If you count older matches too, live extra search does even better than push.</a:t>
            </a:r>
          </a:p>
        </p:txBody>
      </p:sp>
      <p:sp>
        <p:nvSpPr>
          <p:cNvPr id="4" name="Slide Number Placeholder 3"/>
          <p:cNvSpPr>
            <a:spLocks noGrp="1"/>
          </p:cNvSpPr>
          <p:nvPr>
            <p:ph type="sldNum" sz="quarter" idx="5"/>
          </p:nvPr>
        </p:nvSpPr>
        <p:spPr/>
        <p:txBody>
          <a:bodyPr/>
          <a:lstStyle/>
          <a:p>
            <a:fld id="{FDBAA1BF-CD47-4050-BEA8-554F3EBEA974}" type="slidenum">
              <a:rPr lang="en-US" smtClean="0"/>
              <a:t>11</a:t>
            </a:fld>
            <a:endParaRPr lang="en-US"/>
          </a:p>
        </p:txBody>
      </p:sp>
    </p:spTree>
    <p:extLst>
      <p:ext uri="{BB962C8B-B14F-4D97-AF65-F5344CB8AC3E}">
        <p14:creationId xmlns:p14="http://schemas.microsoft.com/office/powerpoint/2010/main" val="42241733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a:t>
            </a:r>
          </a:p>
          <a:p>
            <a:endParaRPr lang="en-US"/>
          </a:p>
          <a:p>
            <a:r>
              <a:rPr lang="en-US"/>
              <a:t>Now our own rule. It lost. In the eight-shard setting on new topics, with a budget of four, the simple most-changed rule found about thirty-one percent of new matches and our probe about twenty-eight. Our plan said the probe had to win by at least five points; instead it lost by three point six.</a:t>
            </a:r>
          </a:p>
          <a:p>
            <a:endParaRPr lang="en-US"/>
          </a:p>
          <a:p>
            <a:r>
              <a:rPr lang="en-US"/>
              <a:t>Where did the gap come from? A small part, about one point, is the probe’s own messages: they cost about a fifth of the budget, so it sends one fewer summary. The bigger part, about two and two-thirds points, stays even when both rules send the same number of summaries, so it comes from picking worse shards. In sixty-two of two hundred fifty time steps, the probe’s estimate was zero for every shard, so it could not tell the shards apart.</a:t>
            </a:r>
          </a:p>
          <a:p>
            <a:endParaRPr lang="en-US"/>
          </a:p>
          <a:p>
            <a:r>
              <a:rPr lang="en-US"/>
              <a:t>The bars at the bottom show how well each estimate predicts which shards gain most from a refresh. A plain count of new passages per shard did much better than the probe, although we did not test that count as a refresh rule.</a:t>
            </a:r>
          </a:p>
        </p:txBody>
      </p:sp>
      <p:sp>
        <p:nvSpPr>
          <p:cNvPr id="4" name="Slide Number Placeholder 3"/>
          <p:cNvSpPr>
            <a:spLocks noGrp="1"/>
          </p:cNvSpPr>
          <p:nvPr>
            <p:ph type="sldNum" sz="quarter" idx="5"/>
          </p:nvPr>
        </p:nvSpPr>
        <p:spPr/>
        <p:txBody>
          <a:bodyPr/>
          <a:lstStyle/>
          <a:p>
            <a:fld id="{FDBAA1BF-CD47-4050-BEA8-554F3EBEA974}" type="slidenum">
              <a:rPr lang="en-US" smtClean="0"/>
              <a:t>12</a:t>
            </a:fld>
            <a:endParaRPr lang="en-US"/>
          </a:p>
        </p:txBody>
      </p:sp>
    </p:spTree>
    <p:extLst>
      <p:ext uri="{BB962C8B-B14F-4D97-AF65-F5344CB8AC3E}">
        <p14:creationId xmlns:p14="http://schemas.microsoft.com/office/powerpoint/2010/main" val="726522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a:t>
            </a:r>
          </a:p>
          <a:p>
            <a:endParaRPr lang="en-US"/>
          </a:p>
          <a:p>
            <a:r>
              <a:rPr lang="en-US"/>
              <a:t>These are the checks that changed the project along the way. A trial run showed that refreshing barely helped when new passages join the shard with the nearest starting center, so we added placements where old summaries really fail. A code review found that with one active shard every rule must make the same choice, before we wasted any runs. The planned extra search could see a whole step’s questions in advance, so we added a fair live version; seeing ahead was worth very little. We noticed that the most-changed rule’s tiny score messages were free, and a clearly labeled follow-up charged them. And a chance-level check matched simple math: two shards out of thirty-two.</a:t>
            </a:r>
          </a:p>
          <a:p>
            <a:endParaRPr lang="en-US"/>
          </a:p>
          <a:p>
            <a:r>
              <a:rPr lang="en-US"/>
              <a:t>The road blockers were practical. Each simulation process needed several gigabytes of memory, and the first big batch crashed, so I built a script that restarts only the unfinished runs and ran fewer jobs at once; later batches still needed a few reruns. An AI drafting tool once typed numbers with no source, so every result number is now generated by scripts and checked. And the first paper was too dense, so there is now a plain-English version.</a:t>
            </a:r>
          </a:p>
        </p:txBody>
      </p:sp>
      <p:sp>
        <p:nvSpPr>
          <p:cNvPr id="4" name="Slide Number Placeholder 3"/>
          <p:cNvSpPr>
            <a:spLocks noGrp="1"/>
          </p:cNvSpPr>
          <p:nvPr>
            <p:ph type="sldNum" sz="quarter" idx="5"/>
          </p:nvPr>
        </p:nvSpPr>
        <p:spPr/>
        <p:txBody>
          <a:bodyPr/>
          <a:lstStyle/>
          <a:p>
            <a:fld id="{FDBAA1BF-CD47-4050-BEA8-554F3EBEA974}" type="slidenum">
              <a:rPr lang="en-US" smtClean="0"/>
              <a:t>13</a:t>
            </a:fld>
            <a:endParaRPr lang="en-US"/>
          </a:p>
        </p:txBody>
      </p:sp>
    </p:spTree>
    <p:extLst>
      <p:ext uri="{BB962C8B-B14F-4D97-AF65-F5344CB8AC3E}">
        <p14:creationId xmlns:p14="http://schemas.microsoft.com/office/powerpoint/2010/main" val="35663249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40 seconds</a:t>
            </a:r>
          </a:p>
          <a:p>
            <a:endParaRPr lang="en-US"/>
          </a:p>
          <a:p>
            <a:r>
              <a:rPr lang="en-US"/>
              <a:t>Here is where the project stands. All one thousand one hundred fifty-eight simulation runs are finished, with none missing, and all twenty-four automated tests pass. The code is public, with eight named save points for the steps of the plan, so anyone can check that each part of the plan was saved before the runs it covers. There is a full ten-page paper in conference format and an eight-page plain-English version.</a:t>
            </a:r>
          </a:p>
          <a:p>
            <a:endParaRPr lang="en-US"/>
          </a:p>
          <a:p>
            <a:r>
              <a:rPr lang="en-US"/>
              <a:t>What is left is writing and submission, not experiments. Before the abstract deadline on the twenty-fourth of November, I will finish the final checks, read the whole paper myself, and choose which version to submit. The paper is due on the first of December, and the course presentation follows.</a:t>
            </a:r>
          </a:p>
          <a:p>
            <a:endParaRPr lang="en-US"/>
          </a:p>
          <a:p>
            <a:r>
              <a:rPr lang="en-US"/>
              <a:t>One risk: the paper must be anonymous for review, but the public repository shows my name, so I will check whether the conference allows the paper to be public online.</a:t>
            </a:r>
          </a:p>
        </p:txBody>
      </p:sp>
      <p:sp>
        <p:nvSpPr>
          <p:cNvPr id="4" name="Slide Number Placeholder 3"/>
          <p:cNvSpPr>
            <a:spLocks noGrp="1"/>
          </p:cNvSpPr>
          <p:nvPr>
            <p:ph type="sldNum" sz="quarter" idx="5"/>
          </p:nvPr>
        </p:nvSpPr>
        <p:spPr/>
        <p:txBody>
          <a:bodyPr/>
          <a:lstStyle/>
          <a:p>
            <a:fld id="{FDBAA1BF-CD47-4050-BEA8-554F3EBEA974}" type="slidenum">
              <a:rPr lang="en-US" smtClean="0"/>
              <a:t>14</a:t>
            </a:fld>
            <a:endParaRPr lang="en-US"/>
          </a:p>
        </p:txBody>
      </p:sp>
    </p:spTree>
    <p:extLst>
      <p:ext uri="{BB962C8B-B14F-4D97-AF65-F5344CB8AC3E}">
        <p14:creationId xmlns:p14="http://schemas.microsoft.com/office/powerpoint/2010/main" val="40562256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a:t>
            </a:r>
          </a:p>
          <a:p>
            <a:endParaRPr lang="en-US"/>
          </a:p>
          <a:p>
            <a:r>
              <a:rPr lang="en-US"/>
              <a:t>To finish, where new data lands decides how a vector database should spend a fixed network budget. The simple most-changed rule beat our own probe, and in one setting a few uncharged bytes were enough to create a lead for refresh.</a:t>
            </a:r>
          </a:p>
          <a:p>
            <a:endParaRPr lang="en-US"/>
          </a:p>
          <a:p>
            <a:r>
              <a:rPr lang="en-US"/>
              <a:t>These are the works I mentioned, and both papers give the full references. The numbers in brackets match the numbers on the earlier slides.</a:t>
            </a:r>
          </a:p>
          <a:p>
            <a:endParaRPr lang="en-US"/>
          </a:p>
          <a:p>
            <a:r>
              <a:rPr lang="en-US"/>
              <a:t>About AI use. Gemini drafted the simulator code, the analysis code and an early draft of the paper. Claude rewrote the plain-English paper, checked each citation against its source, recomputed the reported numbers and built these slides. Gemini, Claude and Codex also reviewed drafts. Every result number comes from scripts run on the saved results, and I am responsible for the content.</a:t>
            </a:r>
          </a:p>
          <a:p>
            <a:endParaRPr lang="en-US"/>
          </a:p>
          <a:p>
            <a:r>
              <a:rPr lang="en-US"/>
              <a:t>The code, the results and both papers are on GitHub at the address at the bottom. Thank you. I am happy to take questions.</a:t>
            </a:r>
          </a:p>
        </p:txBody>
      </p:sp>
      <p:sp>
        <p:nvSpPr>
          <p:cNvPr id="4" name="Slide Number Placeholder 3"/>
          <p:cNvSpPr>
            <a:spLocks noGrp="1"/>
          </p:cNvSpPr>
          <p:nvPr>
            <p:ph type="sldNum" sz="quarter" idx="5"/>
          </p:nvPr>
        </p:nvSpPr>
        <p:spPr/>
        <p:txBody>
          <a:bodyPr/>
          <a:lstStyle/>
          <a:p>
            <a:fld id="{FDBAA1BF-CD47-4050-BEA8-554F3EBEA974}" type="slidenum">
              <a:rPr lang="en-US" smtClean="0"/>
              <a:t>15</a:t>
            </a:fld>
            <a:endParaRPr lang="en-US"/>
          </a:p>
        </p:txBody>
      </p:sp>
    </p:spTree>
    <p:extLst>
      <p:ext uri="{BB962C8B-B14F-4D97-AF65-F5344CB8AC3E}">
        <p14:creationId xmlns:p14="http://schemas.microsoft.com/office/powerpoint/2010/main" val="4950756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434E8-ADBF-B45F-A993-E2752FCCBE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ADA651-A9D3-77C3-64D4-16D832D573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72867DD-631E-0677-C195-1979C5E5104E}"/>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6F6761AD-55B9-1437-9032-147013E265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DCDCF6-B5FC-A9AD-6445-FA8E234ABCA3}"/>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22557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D3622-C0BC-31D5-4BED-5292BC910E0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2E03181-01BC-9271-C97C-A1F57A05DE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10A4E4-2086-AC66-295F-E569BA1704B0}"/>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2BB0976D-6664-3652-4FD0-F6C0D7E393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6258FD-68AF-5B26-4B9B-C3FC4585637B}"/>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264556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EF529-B726-A6CC-CF74-0C1841EBA90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617BE2-B2BA-1F46-AF9D-F143E815E8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B269C5-A98C-6081-5534-3FF331A739E1}"/>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A6925204-512B-C6B7-9DB2-2EA0FA2597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9F4833-54B7-658D-2685-C596C105789B}"/>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2914368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9D7F0-9106-E824-7FC1-C6B65B9B80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3312702-5477-5B3E-1BF8-7A5AC682C59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8EFB4F2-38E4-4FB7-E3C1-E7CCD45FB0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61E982-90C9-B3DE-A03E-FA51F870F018}"/>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6" name="Footer Placeholder 5">
            <a:extLst>
              <a:ext uri="{FF2B5EF4-FFF2-40B4-BE49-F238E27FC236}">
                <a16:creationId xmlns:a16="http://schemas.microsoft.com/office/drawing/2014/main" id="{E4EFBD18-3D68-33B4-F6CE-2CEB705E41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4517CB-1198-D95E-E3EE-5415933380B0}"/>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567655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2606A-55BF-6CA0-7241-B8BE26267B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079D336-DDBD-9BF0-7255-B691E32BD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D13665-E390-FB4C-C0CC-1A157B25F89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EAAD644-070E-91A6-4BE7-88B672E4A6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F89651-EA9E-0B95-AC13-DFD0FCCD0D7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E68721-1841-870E-61A6-0B7AD1CCF318}"/>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8" name="Footer Placeholder 7">
            <a:extLst>
              <a:ext uri="{FF2B5EF4-FFF2-40B4-BE49-F238E27FC236}">
                <a16:creationId xmlns:a16="http://schemas.microsoft.com/office/drawing/2014/main" id="{297DD5B5-B7EE-F244-CB15-E7763DF5AA4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7AE8D47-41F9-CA83-EB2A-630880F9F294}"/>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1658163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02CA-A794-2C81-3C87-3987A9F8D04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B88788-DC21-EBB9-6F4B-5670638D9372}"/>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4" name="Footer Placeholder 3">
            <a:extLst>
              <a:ext uri="{FF2B5EF4-FFF2-40B4-BE49-F238E27FC236}">
                <a16:creationId xmlns:a16="http://schemas.microsoft.com/office/drawing/2014/main" id="{1BC02376-66B5-F670-B7E2-433335CE27A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5659B5-DA52-F3EA-9612-73FB9D3903CD}"/>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39898050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B56CCD-CE1B-3AAE-9EE1-95836BBF69BB}"/>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3" name="Footer Placeholder 2">
            <a:extLst>
              <a:ext uri="{FF2B5EF4-FFF2-40B4-BE49-F238E27FC236}">
                <a16:creationId xmlns:a16="http://schemas.microsoft.com/office/drawing/2014/main" id="{CACC8995-7F1F-9F1C-718C-A4E29774534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753EF85-98FB-C5A9-CF4B-B1596200966A}"/>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2675457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7B017-2DE4-8AAD-ED32-4EBC6D0394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EBFCE8A-63D9-1C89-1F22-D211357B14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CE1513-B6AB-5381-C3AD-3AED5E5266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6F970D-7F0F-46AE-07C9-D8F9008736DD}"/>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6" name="Footer Placeholder 5">
            <a:extLst>
              <a:ext uri="{FF2B5EF4-FFF2-40B4-BE49-F238E27FC236}">
                <a16:creationId xmlns:a16="http://schemas.microsoft.com/office/drawing/2014/main" id="{B105E91B-C228-15B7-EDB1-13AC106A41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B31114-68DE-3FAC-1DCC-E4B4CD776621}"/>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976441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D45DC-9EAF-2909-400D-45E3C5A360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56A120-AD5B-F465-E7A2-65A734DCC72F}"/>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78D968-703B-D00C-E1FE-7EF9C1D7C8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0F2D7C-C9EF-B68A-FA19-BFD1A041C4A1}"/>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6" name="Footer Placeholder 5">
            <a:extLst>
              <a:ext uri="{FF2B5EF4-FFF2-40B4-BE49-F238E27FC236}">
                <a16:creationId xmlns:a16="http://schemas.microsoft.com/office/drawing/2014/main" id="{0599F597-6D91-DA27-5971-FCE5877545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09F0CE-229B-D68F-C1E5-C04EA8B3B926}"/>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1901075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323E5-FF02-BB2A-7B97-D6E8D26EF0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D42C20-B3FF-7358-1CA5-8FB7C0380CB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04938-FCC1-3ED5-87FD-B2DF102893AC}"/>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A73DEBAA-86F8-D1DB-9079-C5E057BCA1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885530-DDE8-26F8-2F7C-A4228F1E6F49}"/>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1479005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DB20D6-A163-B321-1B57-3C7E645E4B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CB756C9-DB57-18FA-D636-557B63E7B84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B72216-D584-36C4-7CC8-A91EB1A5D28F}"/>
              </a:ext>
            </a:extLst>
          </p:cNvPr>
          <p:cNvSpPr>
            <a:spLocks noGrp="1"/>
          </p:cNvSpPr>
          <p:nvPr>
            <p:ph type="dt" sz="half" idx="10"/>
          </p:nvPr>
        </p:nvSpPr>
        <p:spPr/>
        <p:txBody>
          <a:body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D068BABB-1678-F32F-EDCF-DF7AE9E199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9FE265-840D-A9A6-1B50-3AA2D7A4A382}"/>
              </a:ext>
            </a:extLst>
          </p:cNvPr>
          <p:cNvSpPr>
            <a:spLocks noGrp="1"/>
          </p:cNvSpPr>
          <p:nvPr>
            <p:ph type="sldNum" sz="quarter" idx="12"/>
          </p:nvPr>
        </p:nvSpPr>
        <p:spPr/>
        <p:txBody>
          <a:bodyPr/>
          <a:lstStyle/>
          <a:p>
            <a:fld id="{C8D6EA28-E397-4C1E-B9C0-F7C2BA56EF61}" type="slidenum">
              <a:rPr lang="en-US" smtClean="0"/>
              <a:t>‹#›</a:t>
            </a:fld>
            <a:endParaRPr lang="en-US"/>
          </a:p>
        </p:txBody>
      </p:sp>
    </p:spTree>
    <p:extLst>
      <p:ext uri="{BB962C8B-B14F-4D97-AF65-F5344CB8AC3E}">
        <p14:creationId xmlns:p14="http://schemas.microsoft.com/office/powerpoint/2010/main" val="3739174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BC8DB1-78D5-7FD1-535F-F03F2B85BD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4ACBE30-AA54-96CD-2275-950AF8B4B8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ED306D-25FB-0133-7DD8-DA9A0BE685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056F22-11DF-47BF-9CB0-D4CA70099FFF}" type="datetimeFigureOut">
              <a:rPr lang="en-US" smtClean="0"/>
              <a:t>10/26/2026</a:t>
            </a:fld>
            <a:endParaRPr lang="en-US"/>
          </a:p>
        </p:txBody>
      </p:sp>
      <p:sp>
        <p:nvSpPr>
          <p:cNvPr id="5" name="Footer Placeholder 4">
            <a:extLst>
              <a:ext uri="{FF2B5EF4-FFF2-40B4-BE49-F238E27FC236}">
                <a16:creationId xmlns:a16="http://schemas.microsoft.com/office/drawing/2014/main" id="{D5609195-D700-B17F-4E41-81C98C077E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F3C9E7-6590-9254-DC92-87C7FDDE441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D6EA28-E397-4C1E-B9C0-F7C2BA56EF61}" type="slidenum">
              <a:rPr lang="en-US" smtClean="0"/>
              <a:t>‹#›</a:t>
            </a:fld>
            <a:endParaRPr lang="en-US"/>
          </a:p>
        </p:txBody>
      </p:sp>
    </p:spTree>
    <p:extLst>
      <p:ext uri="{BB962C8B-B14F-4D97-AF65-F5344CB8AC3E}">
        <p14:creationId xmlns:p14="http://schemas.microsoft.com/office/powerpoint/2010/main" val="11976321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3" Type="http://schemas.microsoft.com/office/2007/relationships/media" Target="../media/media4.mp4"/><Relationship Id="rId7" Type="http://schemas.openxmlformats.org/officeDocument/2006/relationships/slideLayout" Target="../slideLayouts/slideLayout7.xml"/><Relationship Id="rId12" Type="http://schemas.openxmlformats.org/officeDocument/2006/relationships/image" Target="../media/image8.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video" Target="../media/media5.mp4"/><Relationship Id="rId11" Type="http://schemas.openxmlformats.org/officeDocument/2006/relationships/image" Target="../media/image7.png"/><Relationship Id="rId5" Type="http://schemas.microsoft.com/office/2007/relationships/media" Target="../media/media5.mp4"/><Relationship Id="rId10" Type="http://schemas.openxmlformats.org/officeDocument/2006/relationships/image" Target="../media/image6.png"/><Relationship Id="rId4" Type="http://schemas.openxmlformats.org/officeDocument/2006/relationships/video" Target="../media/media4.mp4"/><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6.mp4"/><Relationship Id="rId1" Type="http://schemas.microsoft.com/office/2007/relationships/media" Target="../media/media6.mp4"/><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Finding new data in a vector database split across servers">
            <a:extLst>
              <a:ext uri="{FF2B5EF4-FFF2-40B4-BE49-F238E27FC236}">
                <a16:creationId xmlns:a16="http://schemas.microsoft.com/office/drawing/2014/main" id="{FF04A61B-A281-A47B-F63B-D42EE36E9A4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Animation cover" descr="Animation from the slide">
            <a:hlinkClick r:id="" action="ppaction://media"/>
            <a:extLst>
              <a:ext uri="{FF2B5EF4-FFF2-40B4-BE49-F238E27FC236}">
                <a16:creationId xmlns:a16="http://schemas.microsoft.com/office/drawing/2014/main" id="{70391000-8E4E-592D-78C2-738BE756A5BF}"/>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9694124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Summaries go out of date">
            <a:extLst>
              <a:ext uri="{FF2B5EF4-FFF2-40B4-BE49-F238E27FC236}">
                <a16:creationId xmlns:a16="http://schemas.microsoft.com/office/drawing/2014/main" id="{79BA7C25-7651-0BC8-8D49-BD1B20D7C714}"/>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Animation problem" descr="Animation from the slide">
            <a:hlinkClick r:id="" action="ppaction://media"/>
            <a:extLst>
              <a:ext uri="{FF2B5EF4-FFF2-40B4-BE49-F238E27FC236}">
                <a16:creationId xmlns:a16="http://schemas.microsoft.com/office/drawing/2014/main" id="{15926577-6E2A-856D-F106-A661AB65C777}"/>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812800" y="2095500"/>
            <a:ext cx="5207000" cy="3556000"/>
          </a:xfrm>
          <a:prstGeom prst="rect">
            <a:avLst/>
          </a:prstGeom>
        </p:spPr>
      </p:pic>
    </p:spTree>
    <p:extLst>
      <p:ext uri="{BB962C8B-B14F-4D97-AF65-F5344CB8AC3E}">
        <p14:creationId xmlns:p14="http://schemas.microsoft.com/office/powerpoint/2010/main" val="588778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Where should the network bytes go?">
            <a:extLst>
              <a:ext uri="{FF2B5EF4-FFF2-40B4-BE49-F238E27FC236}">
                <a16:creationId xmlns:a16="http://schemas.microsoft.com/office/drawing/2014/main" id="{B7CFB746-E087-A485-7D16-B7593D2F1FBF}"/>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Animation question_refresh" descr="Animation from the slide">
            <a:hlinkClick r:id="" action="ppaction://media"/>
            <a:extLst>
              <a:ext uri="{FF2B5EF4-FFF2-40B4-BE49-F238E27FC236}">
                <a16:creationId xmlns:a16="http://schemas.microsoft.com/office/drawing/2014/main" id="{51D9971C-CBCE-C839-65B1-3042E1C24545}"/>
              </a:ext>
            </a:extLst>
          </p:cNvPr>
          <p:cNvPicPr>
            <a:picLocks noChangeAspect="1"/>
          </p:cNvPicPr>
          <p:nvPr>
            <a:videoFile r:link="rId2"/>
            <p:extLst>
              <p:ext uri="{DAA4B4D4-6D71-4841-9C94-3DE7FCFB9230}">
                <p14:media xmlns:p14="http://schemas.microsoft.com/office/powerpoint/2010/main" r:embed="rId1"/>
              </p:ext>
            </p:extLst>
          </p:nvPr>
        </p:nvPicPr>
        <p:blipFill>
          <a:blip r:embed="rId10"/>
          <a:stretch>
            <a:fillRect/>
          </a:stretch>
        </p:blipFill>
        <p:spPr>
          <a:xfrm>
            <a:off x="812800" y="2514600"/>
            <a:ext cx="3352800" cy="2857500"/>
          </a:xfrm>
          <a:prstGeom prst="rect">
            <a:avLst/>
          </a:prstGeom>
        </p:spPr>
      </p:pic>
      <p:pic>
        <p:nvPicPr>
          <p:cNvPr id="5" name="Animation question_extra" descr="Animation from the slide">
            <a:hlinkClick r:id="" action="ppaction://media"/>
            <a:extLst>
              <a:ext uri="{FF2B5EF4-FFF2-40B4-BE49-F238E27FC236}">
                <a16:creationId xmlns:a16="http://schemas.microsoft.com/office/drawing/2014/main" id="{2E006E55-8C1B-BFA0-0727-B22F7A15A2A3}"/>
              </a:ext>
            </a:extLst>
          </p:cNvPr>
          <p:cNvPicPr>
            <a:picLocks noChangeAspect="1"/>
          </p:cNvPicPr>
          <p:nvPr>
            <a:videoFile r:link="rId4"/>
            <p:extLst>
              <p:ext uri="{DAA4B4D4-6D71-4841-9C94-3DE7FCFB9230}">
                <p14:media xmlns:p14="http://schemas.microsoft.com/office/powerpoint/2010/main" r:embed="rId3"/>
              </p:ext>
            </p:extLst>
          </p:nvPr>
        </p:nvPicPr>
        <p:blipFill>
          <a:blip r:embed="rId11"/>
          <a:stretch>
            <a:fillRect/>
          </a:stretch>
        </p:blipFill>
        <p:spPr>
          <a:xfrm>
            <a:off x="4419600" y="2514600"/>
            <a:ext cx="3352800" cy="2857500"/>
          </a:xfrm>
          <a:prstGeom prst="rect">
            <a:avLst/>
          </a:prstGeom>
        </p:spPr>
      </p:pic>
      <p:pic>
        <p:nvPicPr>
          <p:cNvPr id="6" name="Animation question_push" descr="Animation from the slide">
            <a:hlinkClick r:id="" action="ppaction://media"/>
            <a:extLst>
              <a:ext uri="{FF2B5EF4-FFF2-40B4-BE49-F238E27FC236}">
                <a16:creationId xmlns:a16="http://schemas.microsoft.com/office/drawing/2014/main" id="{B7321F12-86FA-B547-7DEB-BC7B362488C6}"/>
              </a:ext>
            </a:extLst>
          </p:cNvPr>
          <p:cNvPicPr>
            <a:picLocks noChangeAspect="1"/>
          </p:cNvPicPr>
          <p:nvPr>
            <a:videoFile r:link="rId6"/>
            <p:extLst>
              <p:ext uri="{DAA4B4D4-6D71-4841-9C94-3DE7FCFB9230}">
                <p14:media xmlns:p14="http://schemas.microsoft.com/office/powerpoint/2010/main" r:embed="rId5"/>
              </p:ext>
            </p:extLst>
          </p:nvPr>
        </p:nvPicPr>
        <p:blipFill>
          <a:blip r:embed="rId12"/>
          <a:stretch>
            <a:fillRect/>
          </a:stretch>
        </p:blipFill>
        <p:spPr>
          <a:xfrm>
            <a:off x="8026400" y="2514600"/>
            <a:ext cx="3352800" cy="2857500"/>
          </a:xfrm>
          <a:prstGeom prst="rect">
            <a:avLst/>
          </a:prstGeom>
        </p:spPr>
      </p:pic>
    </p:spTree>
    <p:extLst>
      <p:ext uri="{BB962C8B-B14F-4D97-AF65-F5344CB8AC3E}">
        <p14:creationId xmlns:p14="http://schemas.microsoft.com/office/powerpoint/2010/main" val="224307236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par>
                                <p:cTn id="7" presetID="1" presetClass="mediacall" presetSubtype="0" fill="hold" nodeType="withEffect">
                                  <p:stCondLst>
                                    <p:cond delay="0"/>
                                  </p:stCondLst>
                                  <p:childTnLst>
                                    <p:cmd type="call" cmd="playFrom(0.0)">
                                      <p:cBhvr>
                                        <p:cTn id="8" dur="1" fill="hold"/>
                                        <p:tgtEl>
                                          <p:spTgt spid="5"/>
                                        </p:tgtEl>
                                      </p:cBhvr>
                                    </p:cmd>
                                  </p:childTnLst>
                                </p:cTn>
                              </p:par>
                              <p:par>
                                <p:cTn id="9" presetID="1" presetClass="mediacall" presetSubtype="0" fill="hold" nodeType="withEffect">
                                  <p:stCondLst>
                                    <p:cond delay="0"/>
                                  </p:stCondLst>
                                  <p:childTnLst>
                                    <p:cmd type="call" cmd="playFrom(0.0)">
                                      <p:cBhvr>
                                        <p:cTn id="10"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repeatCount="indefinite"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repeatCount="indefinite" fill="hold" display="0">
                  <p:stCondLst>
                    <p:cond delay="indefinite"/>
                  </p:stCondLst>
                </p:cTn>
                <p:tgtEl>
                  <p:spTgt spid="5"/>
                </p:tgtEl>
              </p:cMediaNode>
            </p:video>
            <p:seq concurrent="1" nextAc="seek">
              <p:cTn id="18" restart="whenNotActive" fill="hold" evtFilter="cancelBubble" nodeType="interactiveSeq">
                <p:stCondLst>
                  <p:cond evt="onClick" delay="0">
                    <p:tgtEl>
                      <p:spTgt spid="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5"/>
                                        </p:tgtEl>
                                      </p:cBhvr>
                                    </p:cmd>
                                  </p:childTnLst>
                                </p:cTn>
                              </p:par>
                            </p:childTnLst>
                          </p:cTn>
                        </p:par>
                      </p:childTnLst>
                    </p:cTn>
                  </p:par>
                </p:childTnLst>
              </p:cTn>
              <p:nextCondLst>
                <p:cond evt="onClick" delay="0">
                  <p:tgtEl>
                    <p:spTgt spid="5"/>
                  </p:tgtEl>
                </p:cond>
              </p:nextCondLst>
            </p:seq>
            <p:video>
              <p:cMediaNode vol="80000">
                <p:cTn id="23" repeatCount="indefinite" fill="hold" display="0">
                  <p:stCondLst>
                    <p:cond delay="indefinite"/>
                  </p:stCondLst>
                </p:cTn>
                <p:tgtEl>
                  <p:spTgt spid="6"/>
                </p:tgtEl>
              </p:cMediaNode>
            </p:video>
            <p:seq concurrent="1" nextAc="seek">
              <p:cTn id="24" restart="whenNotActive" fill="hold" evtFilter="cancelBubble" nodeType="interactiveSeq">
                <p:stCondLst>
                  <p:cond evt="onClick" delay="0">
                    <p:tgtEl>
                      <p:spTgt spid="6"/>
                    </p:tgtEl>
                  </p:cond>
                </p:stCondLst>
                <p:endSync evt="end" delay="0">
                  <p:rtn val="all"/>
                </p:endSync>
                <p:childTnLst>
                  <p:par>
                    <p:cTn id="25" fill="hold">
                      <p:stCondLst>
                        <p:cond delay="0"/>
                      </p:stCondLst>
                      <p:childTnLst>
                        <p:par>
                          <p:cTn id="26" fill="hold">
                            <p:stCondLst>
                              <p:cond delay="0"/>
                            </p:stCondLst>
                            <p:childTnLst>
                              <p:par>
                                <p:cTn id="27" presetID="2" presetClass="mediacall" presetSubtype="0" fill="hold" nodeType="clickEffect">
                                  <p:stCondLst>
                                    <p:cond delay="0"/>
                                  </p:stCondLst>
                                  <p:childTnLst>
                                    <p:cmd type="call" cmd="togglePause">
                                      <p:cBhvr>
                                        <p:cTn id="28"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What others did, and what we add">
            <a:extLst>
              <a:ext uri="{FF2B5EF4-FFF2-40B4-BE49-F238E27FC236}">
                <a16:creationId xmlns:a16="http://schemas.microsoft.com/office/drawing/2014/main" id="{B3C86E93-2FC4-DC62-9745-50CF30E1358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29060133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One simulated time step">
            <a:extLst>
              <a:ext uri="{FF2B5EF4-FFF2-40B4-BE49-F238E27FC236}">
                <a16:creationId xmlns:a16="http://schemas.microsoft.com/office/drawing/2014/main" id="{F327926A-78CC-1263-E980-5D1F22BCEC0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92087756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What the project is built with">
            <a:extLst>
              <a:ext uri="{FF2B5EF4-FFF2-40B4-BE49-F238E27FC236}">
                <a16:creationId xmlns:a16="http://schemas.microsoft.com/office/drawing/2014/main" id="{D3C15776-AF42-76DC-5E75-4FAB26A79BD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175511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Twelve methods, one budget">
            <a:extLst>
              <a:ext uri="{FF2B5EF4-FFF2-40B4-BE49-F238E27FC236}">
                <a16:creationId xmlns:a16="http://schemas.microsoft.com/office/drawing/2014/main" id="{A1180C37-9D89-044A-C939-FB23BF783C4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583310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What arrives, and how we score it">
            <a:extLst>
              <a:ext uri="{FF2B5EF4-FFF2-40B4-BE49-F238E27FC236}">
                <a16:creationId xmlns:a16="http://schemas.microsoft.com/office/drawing/2014/main" id="{0E4CDA62-5B1B-B893-3032-14E38B3C05D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Animation data" descr="Animation from the slide">
            <a:hlinkClick r:id="" action="ppaction://media"/>
            <a:extLst>
              <a:ext uri="{FF2B5EF4-FFF2-40B4-BE49-F238E27FC236}">
                <a16:creationId xmlns:a16="http://schemas.microsoft.com/office/drawing/2014/main" id="{84DA6B4D-BD77-D743-6003-2E65299AD061}"/>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812800" y="2095500"/>
            <a:ext cx="5715000" cy="2095500"/>
          </a:xfrm>
          <a:prstGeom prst="rect">
            <a:avLst/>
          </a:prstGeom>
        </p:spPr>
      </p:pic>
    </p:spTree>
    <p:extLst>
      <p:ext uri="{BB962C8B-B14F-4D97-AF65-F5344CB8AC3E}">
        <p14:creationId xmlns:p14="http://schemas.microsoft.com/office/powerpoint/2010/main" val="30759230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Here, extra search and push win">
            <a:extLst>
              <a:ext uri="{FF2B5EF4-FFF2-40B4-BE49-F238E27FC236}">
                <a16:creationId xmlns:a16="http://schemas.microsoft.com/office/drawing/2014/main" id="{D9A115D4-629C-0B46-F6CC-E604EACDE1D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Chart 1" descr="Here, extra search and push win">
            <a:extLst>
              <a:ext uri="{FF2B5EF4-FFF2-40B4-BE49-F238E27FC236}">
                <a16:creationId xmlns:a16="http://schemas.microsoft.com/office/drawing/2014/main" id="{CA465762-4D7C-4865-9A98-1AA1B3AD65D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12800" y="2095500"/>
            <a:ext cx="5715000" cy="3302000"/>
          </a:xfrm>
          <a:prstGeom prst="rect">
            <a:avLst/>
          </a:prstGeom>
        </p:spPr>
      </p:pic>
    </p:spTree>
    <p:extLst>
      <p:ext uri="{BB962C8B-B14F-4D97-AF65-F5344CB8AC3E}">
        <p14:creationId xmlns:p14="http://schemas.microsoft.com/office/powerpoint/2010/main" val="41614528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One active shard: the topic decides">
            <a:extLst>
              <a:ext uri="{FF2B5EF4-FFF2-40B4-BE49-F238E27FC236}">
                <a16:creationId xmlns:a16="http://schemas.microsoft.com/office/drawing/2014/main" id="{3049B2A8-827B-A4A1-401B-9A16FF9419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Chart 1" descr="One active shard: the topic decides">
            <a:extLst>
              <a:ext uri="{FF2B5EF4-FFF2-40B4-BE49-F238E27FC236}">
                <a16:creationId xmlns:a16="http://schemas.microsoft.com/office/drawing/2014/main" id="{6F7E4449-9427-117D-0AB8-16850F2E10D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12800" y="2413000"/>
            <a:ext cx="5080000" cy="2540000"/>
          </a:xfrm>
          <a:prstGeom prst="rect">
            <a:avLst/>
          </a:prstGeom>
        </p:spPr>
      </p:pic>
      <p:pic>
        <p:nvPicPr>
          <p:cNvPr id="7" name="Chart 2" descr="One active shard: the topic decides">
            <a:extLst>
              <a:ext uri="{FF2B5EF4-FFF2-40B4-BE49-F238E27FC236}">
                <a16:creationId xmlns:a16="http://schemas.microsoft.com/office/drawing/2014/main" id="{18E5531C-FFB3-EC64-F711-4904CCD7926A}"/>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299200" y="2413000"/>
            <a:ext cx="5080000" cy="2540000"/>
          </a:xfrm>
          <a:prstGeom prst="rect">
            <a:avLst/>
          </a:prstGeom>
        </p:spPr>
      </p:pic>
    </p:spTree>
    <p:extLst>
      <p:ext uri="{BB962C8B-B14F-4D97-AF65-F5344CB8AC3E}">
        <p14:creationId xmlns:p14="http://schemas.microsoft.com/office/powerpoint/2010/main" val="9756007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600"/>
                                        <p:tgtEl>
                                          <p:spTgt spid="7"/>
                                        </p:tgtEl>
                                      </p:cBhvr>
                                    </p:animEffect>
                                    <p:anim calcmode="lin" valueType="num">
                                      <p:cBhvr>
                                        <p:cTn id="13" dur="600" fill="hold"/>
                                        <p:tgtEl>
                                          <p:spTgt spid="7"/>
                                        </p:tgtEl>
                                        <p:attrNameLst>
                                          <p:attrName>ppt_x</p:attrName>
                                        </p:attrNameLst>
                                      </p:cBhvr>
                                      <p:tavLst>
                                        <p:tav tm="0">
                                          <p:val>
                                            <p:strVal val="#ppt_x"/>
                                          </p:val>
                                        </p:tav>
                                        <p:tav tm="100000">
                                          <p:val>
                                            <p:strVal val="#ppt_x"/>
                                          </p:val>
                                        </p:tav>
                                      </p:tavLst>
                                    </p:anim>
                                    <p:anim calcmode="lin" valueType="num">
                                      <p:cBhvr>
                                        <p:cTn id="14" dur="6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Eight active shards: the budget decides">
            <a:extLst>
              <a:ext uri="{FF2B5EF4-FFF2-40B4-BE49-F238E27FC236}">
                <a16:creationId xmlns:a16="http://schemas.microsoft.com/office/drawing/2014/main" id="{0DCD2608-9EC2-40BB-7D17-19A147A000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Chart 1" descr="Eight active shards: the budget decides">
            <a:extLst>
              <a:ext uri="{FF2B5EF4-FFF2-40B4-BE49-F238E27FC236}">
                <a16:creationId xmlns:a16="http://schemas.microsoft.com/office/drawing/2014/main" id="{09F775C9-ACD3-2928-0EA7-3DA2B45605D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12800" y="2095500"/>
            <a:ext cx="5715000" cy="3302000"/>
          </a:xfrm>
          <a:prstGeom prst="rect">
            <a:avLst/>
          </a:prstGeom>
        </p:spPr>
      </p:pic>
    </p:spTree>
    <p:extLst>
      <p:ext uri="{BB962C8B-B14F-4D97-AF65-F5344CB8AC3E}">
        <p14:creationId xmlns:p14="http://schemas.microsoft.com/office/powerpoint/2010/main" val="13692097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Our probe lost to a simple rule">
            <a:extLst>
              <a:ext uri="{FF2B5EF4-FFF2-40B4-BE49-F238E27FC236}">
                <a16:creationId xmlns:a16="http://schemas.microsoft.com/office/drawing/2014/main" id="{53910C88-B981-4F0E-2437-F9B6F4708D8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3943576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What surprised us, and what we fixed">
            <a:extLst>
              <a:ext uri="{FF2B5EF4-FFF2-40B4-BE49-F238E27FC236}">
                <a16:creationId xmlns:a16="http://schemas.microsoft.com/office/drawing/2014/main" id="{95DA2689-C32C-6E11-7B14-634DE41641F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98466949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Done, and what is left">
            <a:extLst>
              <a:ext uri="{FF2B5EF4-FFF2-40B4-BE49-F238E27FC236}">
                <a16:creationId xmlns:a16="http://schemas.microsoft.com/office/drawing/2014/main" id="{C3019426-F50F-5128-98BF-45E4183DD64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343969783"/>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descr="References and AI use">
            <a:extLst>
              <a:ext uri="{FF2B5EF4-FFF2-40B4-BE49-F238E27FC236}">
                <a16:creationId xmlns:a16="http://schemas.microsoft.com/office/drawing/2014/main" id="{A56A46C9-20FE-2229-3A81-98CFEE8EF3C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805950016"/>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2801</Words>
  <Application>Microsoft Office PowerPoint</Application>
  <PresentationFormat>Custom</PresentationFormat>
  <Paragraphs>120</Paragraphs>
  <Slides>15</Slides>
  <Notes>15</Notes>
  <HiddenSlides>0</HiddenSlides>
  <MMClips>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New Data in a Vector Database Split Across Servers: Midterm Progress</dc:title>
  <dc:creator>Panhapiseth Lim</dc:creator>
  <cp:lastModifiedBy>Panhapiseth Lim</cp:lastModifiedBy>
  <cp:revision>1</cp:revision>
  <dcterms:created xsi:type="dcterms:W3CDTF">2026-10-26T17:16:43Z</dcterms:created>
  <dcterms:modified xsi:type="dcterms:W3CDTF">2026-10-26T17:16:44Z</dcterms:modified>
</cp:coreProperties>
</file>